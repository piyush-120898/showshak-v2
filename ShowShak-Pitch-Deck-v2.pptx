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p\Desktop\ss-test\showshak-v2\pitch\asset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868680"/>
            <a:ext cx="1097280" cy="1097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2402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pPr algn="ctr" indent="0" marL="0">
              <a:buNone/>
            </a:pPr>
            <a:r>
              <a:rPr lang="en-US" sz="6000" b="1" spc="2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</a:t>
            </a:r>
            <a:endParaRPr lang="en-US" sz="6000" dirty="0"/>
          </a:p>
        </p:txBody>
      </p:sp>
      <p:sp>
        <p:nvSpPr>
          <p:cNvPr id="5" name="Text 1"/>
          <p:cNvSpPr/>
          <p:nvPr/>
        </p:nvSpPr>
        <p:spPr>
          <a:xfrm>
            <a:off x="0" y="3520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 ·  </a:t>
            </a:r>
            <a:pPr algn="ctr" indent="0" marL="0">
              <a:buNone/>
            </a:pPr>
            <a:r>
              <a:rPr lang="en-US" sz="1500" b="1" spc="15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pPr algn="ctr" indent="0" marL="0">
              <a:buNone/>
            </a:pPr>
            <a:r>
              <a:rPr lang="en-US" sz="1500" b="1" spc="150" kern="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WATCH IT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2441448" y="4160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layer for what to watch.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 ·  INDIA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content.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conviction.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9718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30632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 clip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Instagram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633472" y="2971800"/>
            <a:ext cx="310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926080" y="29718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17520" y="30632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36592" y="2971800"/>
            <a:ext cx="310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029200" y="29718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30632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to watch”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39712" y="2971800"/>
            <a:ext cx="310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32320" y="29718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30632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OTT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&amp; search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42832" y="2971800"/>
            <a:ext cx="3108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235440" y="297180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241318"/>
          </a:solidFill>
          <a:ln w="9525">
            <a:solidFill>
              <a:srgbClr val="EA3B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06324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the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448056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 is an impulse. </a:t>
            </a:r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6-step hunt for “where to watch” kills it — ~16 minutes lost every single session.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2960" y="53035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decision falls back to the oldest instinct there is — asking someone whose taste you trust.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LiveMint 2025 — India’s 16-minute discovery problem; Accenture OTT survey (India).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you trust,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scale of a feed.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curator clips a show. You feel it. You trust them. You tap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land on the right platform in one move.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3904488"/>
            <a:ext cx="109728" cy="109728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379476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first.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bond with a curator’s taste before the title — so trust leads the decision.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617720"/>
            <a:ext cx="109728" cy="109728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4507992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tap.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clip builds to a single action at the emotional peak — the app opens on the right platform.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330952"/>
            <a:ext cx="109728" cy="109728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5221224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bridge.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carry people to Netflix, Prime, JioHotstar — the trusted top of the funnel for all of them.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LIVE TODAY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mockup.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product.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377440"/>
            <a:ext cx="2496312" cy="1965960"/>
          </a:xfrm>
          <a:prstGeom prst="roundRect">
            <a:avLst>
              <a:gd name="adj" fmla="val 4651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257860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Title-hidden clips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60704" y="2999232"/>
            <a:ext cx="203911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show reveals only at Watch It — you bond with the curator’s taste, not the poster.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02152" y="2377440"/>
            <a:ext cx="2496312" cy="1965960"/>
          </a:xfrm>
          <a:prstGeom prst="roundRect">
            <a:avLst>
              <a:gd name="adj" fmla="val 4651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9896" y="257860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739896" y="2999232"/>
            <a:ext cx="203911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to the right platform in your region — works with zero platform deals.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81344" y="2377440"/>
            <a:ext cx="2496312" cy="1965960"/>
          </a:xfrm>
          <a:prstGeom prst="roundRect">
            <a:avLst>
              <a:gd name="adj" fmla="val 4651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9088" y="257860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19088" y="2999232"/>
            <a:ext cx="203911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Private, shared, and 6-person collaborative watchlists.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860536" y="2377440"/>
            <a:ext cx="2496312" cy="1965960"/>
          </a:xfrm>
          <a:prstGeom prst="roundRect">
            <a:avLst>
              <a:gd name="adj" fmla="val 4651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98280" y="2578608"/>
            <a:ext cx="2039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video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098280" y="2999232"/>
            <a:ext cx="2039112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short-form video pipeline, live in the product today — not embeds.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46177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web app — real video, deep-links to any platform with zero partnerships,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built to scale.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" y="52578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open beta — </a:t>
            </a:r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 curators · N clips]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isn’t solo.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 group chat.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46888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2670048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friends, one watchlist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60704" y="3090672"/>
            <a:ext cx="2852928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Real-time, attributed. A shared stack up to six people co-build — the plan for what to watch together, in one place.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1688" y="246888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99432" y="2670048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→ Shared → Collaborative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99432" y="3090672"/>
            <a:ext cx="2852928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it for yourself, show your taste, or build it with your squad. Enforced at the database, not the UI.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00416" y="246888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2670048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built in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38160" y="3090672"/>
            <a:ext cx="2852928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collaborative stack pulls in up to 5 more people — the loop is the feature.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50749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to the one question this category lives or dies on: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 habit, or a utility?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· BETA SIGNAL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honest, and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468880"/>
            <a:ext cx="2496312" cy="1920240"/>
          </a:xfrm>
          <a:prstGeom prst="roundRect">
            <a:avLst>
              <a:gd name="adj" fmla="val 4762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2670048"/>
            <a:ext cx="203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60704" y="3419856"/>
            <a:ext cx="203911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Curators posting weekly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502152" y="2468880"/>
            <a:ext cx="2496312" cy="1920240"/>
          </a:xfrm>
          <a:prstGeom prst="roundRect">
            <a:avLst>
              <a:gd name="adj" fmla="val 4762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9896" y="2670048"/>
            <a:ext cx="203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 · +[X]%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739896" y="3419856"/>
            <a:ext cx="203911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users, week-over-week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81344" y="2468880"/>
            <a:ext cx="2496312" cy="1920240"/>
          </a:xfrm>
          <a:prstGeom prst="roundRect">
            <a:avLst>
              <a:gd name="adj" fmla="val 4762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9088" y="2670048"/>
            <a:ext cx="203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 · [X]%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19088" y="3419856"/>
            <a:ext cx="203911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Watch-It taps · tap-through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860536" y="2468880"/>
            <a:ext cx="2496312" cy="1920240"/>
          </a:xfrm>
          <a:prstGeom prst="roundRect">
            <a:avLst>
              <a:gd name="adj" fmla="val 4762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98280" y="2670048"/>
            <a:ext cx="203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098280" y="3419856"/>
            <a:ext cx="203911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within 48h of a curator they follow posting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470916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48-hour return is the number that proves habit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it’s what separates us from every “what-to-watch” app that died a utility.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all [bracketed] values from the Chandigarh / Tricity college beta. Show the growth rate when absolute numbers are small.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JioHotstar is solving this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AI. We use humans.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streamer + OpenAI shipped ChatGPT discovery to fix “what to watch” — a machine guess. </a:t>
            </a:r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bring the one thing a machine can’t: a person you trust.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9834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paid subs across 15+ platforms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434840" y="4343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4434840" y="49834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18–34s trust creators over search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0" y="4343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046720" y="49834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world’s 2026 subscription-app install growth was India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Ormax 2025; Nielsen 2026; Variety / Financial Express 2026; AppsFlyer State of Subscriptions 2026.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&amp; MOAT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network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what to watch.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6766560" cy="3383280"/>
          </a:xfrm>
          <a:prstGeom prst="roundRect">
            <a:avLst>
              <a:gd name="adj" fmla="val 2703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42239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neutrality →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16200000">
            <a:off x="-118872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taste &amp; trust →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22830" y="4843577"/>
            <a:ext cx="118872" cy="118872"/>
          </a:xfrm>
          <a:prstGeom prst="ellipse">
            <a:avLst/>
          </a:prstGeom>
          <a:solidFill>
            <a:srgbClr val="5A5A72"/>
          </a:solidFill>
          <a:ln/>
        </p:spPr>
      </p:sp>
      <p:sp>
        <p:nvSpPr>
          <p:cNvPr id="9" name="Text 6"/>
          <p:cNvSpPr/>
          <p:nvPr/>
        </p:nvSpPr>
        <p:spPr>
          <a:xfrm>
            <a:off x="1713586" y="5031029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· Prime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(walled gardens)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35447" y="4708246"/>
            <a:ext cx="118872" cy="118872"/>
          </a:xfrm>
          <a:prstGeom prst="ellipse">
            <a:avLst/>
          </a:prstGeom>
          <a:solidFill>
            <a:srgbClr val="5A5A72"/>
          </a:solidFill>
          <a:ln/>
        </p:spPr>
      </p:sp>
      <p:sp>
        <p:nvSpPr>
          <p:cNvPr id="11" name="Text 8"/>
          <p:cNvSpPr/>
          <p:nvPr/>
        </p:nvSpPr>
        <p:spPr>
          <a:xfrm>
            <a:off x="4826203" y="489569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JustWatch · Reelgood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(where-to-watch data)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064154" y="4031590"/>
            <a:ext cx="118872" cy="118872"/>
          </a:xfrm>
          <a:prstGeom prst="ellipse">
            <a:avLst/>
          </a:prstGeom>
          <a:solidFill>
            <a:srgbClr val="5A5A72"/>
          </a:solidFill>
          <a:ln/>
        </p:spPr>
      </p:sp>
      <p:sp>
        <p:nvSpPr>
          <p:cNvPr id="13" name="Text 10"/>
          <p:cNvSpPr/>
          <p:nvPr/>
        </p:nvSpPr>
        <p:spPr>
          <a:xfrm>
            <a:off x="2254910" y="421904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OTTplay · aggregators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(bundles + search)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40810" y="3388766"/>
            <a:ext cx="118872" cy="118872"/>
          </a:xfrm>
          <a:prstGeom prst="ellipse">
            <a:avLst/>
          </a:prstGeom>
          <a:solidFill>
            <a:srgbClr val="5A5A72"/>
          </a:solidFill>
          <a:ln/>
        </p:spPr>
      </p:sp>
      <p:sp>
        <p:nvSpPr>
          <p:cNvPr id="15" name="Text 12"/>
          <p:cNvSpPr/>
          <p:nvPr/>
        </p:nvSpPr>
        <p:spPr>
          <a:xfrm>
            <a:off x="2931566" y="357621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· Reels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(taste, no intent)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35624" y="2873959"/>
            <a:ext cx="201168" cy="201168"/>
          </a:xfrm>
          <a:prstGeom prst="ellipse">
            <a:avLst/>
          </a:prstGeom>
          <a:solidFill>
            <a:srgbClr val="EA3B32"/>
          </a:solidFill>
          <a:ln/>
        </p:spPr>
      </p:sp>
      <p:sp>
        <p:nvSpPr>
          <p:cNvPr id="17" name="Text 14"/>
          <p:cNvSpPr/>
          <p:nvPr/>
        </p:nvSpPr>
        <p:spPr>
          <a:xfrm>
            <a:off x="5367528" y="3102559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ShowShak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863840" y="246888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JustWatch proved the money. Letterboxd proved the culture. We sit where they meet — taste plus action, across every platform.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streamer that promotes rivals stops being itself — so neutrality stays ours.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JustWatch: 60M+ users/mo, profitable since 2016. Letterboxd: ~29M users, 2026 (TIME / Tiny). We start with zero permission — Watch It runs on public availability data.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budget behind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“Watch It.”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914400" y="28346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EA3B32">
              <a:alpha val="10000"/>
            </a:srgbClr>
          </a:solidFill>
          <a:ln w="9525">
            <a:solidFill>
              <a:srgbClr val="EA3B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9626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promotion economy  ·  ~₹6,000–10,000 cr/yr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marketing + subscriber acquisition + film P&amp;A (~$0.7–1.2B)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28800" y="388620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EA3B32">
              <a:alpha val="24000"/>
            </a:srgbClr>
          </a:solidFill>
          <a:ln w="9525">
            <a:solidFill>
              <a:srgbClr val="EA3B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40142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wedge  ·  the trust-discovery slice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4343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what platforms already spend to acquire subscribers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92240" y="28346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take a cut of subscriptions. We take a slice of what platforms already spend to make people watch — one tentpole now spends $100M+ on marketing alone.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buckets, worldwide → ~$50B+/yr.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India is the beachhead; the playground is global.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Bottom-up, triangulated: FICCI-EY 2026, WPP Media 2026, studio marketing disclosures. Ranges, not point estimates.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sell intent —</a:t>
            </a:r>
            <a:endParaRPr lang="en-US" sz="38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moment of taste.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331720"/>
            <a:ext cx="10543032" cy="676656"/>
          </a:xfrm>
          <a:prstGeom prst="roundRect">
            <a:avLst>
              <a:gd name="adj" fmla="val 10811"/>
            </a:avLst>
          </a:prstGeom>
          <a:solidFill>
            <a:srgbClr val="1E1420"/>
          </a:solidFill>
          <a:ln w="12700">
            <a:solidFill>
              <a:srgbClr val="EA3B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24048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600200" y="2414016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Promoted clips · native title marketing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69748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fund curators to clip new titles. Looks organic, recurring with every release.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811512" y="2542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22960" y="3136392"/>
            <a:ext cx="10543032" cy="676656"/>
          </a:xfrm>
          <a:prstGeom prst="roundRect">
            <a:avLst>
              <a:gd name="adj" fmla="val 10811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320954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00200" y="321868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acquisition for streamers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00200" y="350215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Pre-sold subscribers at peak desire — warmer and cheaper than a streamer’s own cold ads.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811512" y="33467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22960" y="3941064"/>
            <a:ext cx="10543032" cy="676656"/>
          </a:xfrm>
          <a:prstGeom prst="roundRect">
            <a:avLst>
              <a:gd name="adj" fmla="val 10811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0142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600200" y="402336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taste intelligence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00200" y="430682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platform’s mirror of the open market. High-margin, compounding, ours alone.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11512" y="41513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22960" y="4745736"/>
            <a:ext cx="10543032" cy="676656"/>
          </a:xfrm>
          <a:prstGeom prst="roundRect">
            <a:avLst>
              <a:gd name="adj" fmla="val 10811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48188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600200" y="482803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+ curator monetization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600200" y="511149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Power-user tools and creator revenue — diversified, recurring, first-party.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811512" y="4956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" y="63550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revenue line is gated behind scale and data — nothing monetizes off a prototype. This raise buys the data. Healthy LTV:CAC ≥ 3:1.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96012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the buyer.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246888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0704" y="26700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Piyush Gupta — Founder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60704" y="3090672"/>
            <a:ext cx="47091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(IT) and a performance marketer — managed ₹1 cr+ in Google Ads spend driving leads and sales. Built this entire live, tested product solo.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246888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9944" y="26700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9944" y="3090672"/>
            <a:ext cx="47091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Streaming-industry partnerships to turn Watch-It proof into platform revenue, and senior engineering for multi-region scale.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48006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</a:t>
            </a:r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[X]× ROAS</a:t>
            </a:r>
            <a:pPr algn="l" indent="0" marL="0">
              <a:buNone/>
            </a:pPr>
            <a:r>
              <a:rPr lang="en-US" sz="1400" b="1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₹1 cr+ of ad spend — the exact conversion I’ll sell to the OTTs.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ShowShak’s customer is a performance marketer buying attention.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I’ve been that buyer — I know exactly what converts and what they’ll pay for.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66928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</a:t>
            </a:r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 crore</a:t>
            </a:r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pre-seed</a:t>
            </a:r>
            <a:endParaRPr lang="en-US" sz="3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prove the loop.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milestone: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[N] curators posting weekly and [N] viewers returning because they trust them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the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Watch-It conversion data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opens our first deal conversations with the OTT platforms.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1605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0704" y="43616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curators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60704" y="478231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and support the founding curator cohort — the supply that makes an audience return.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41605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72584" y="43616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72584" y="478231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+ senior engineering — turn the beta into a measurable, fundable loop.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0" y="416052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9525">
            <a:solidFill>
              <a:srgbClr val="2A2A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84464" y="43616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to proof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84464" y="4782312"/>
            <a:ext cx="292608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0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to the Watch-It conversion data that unlocks the seed round.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589788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hyperlocal — Chandigarh + Tricity colleges, word-of-mouth first — then the organic rail becomes the paid rail.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3385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esktop\ss-test\showshak-v2\pitch\assets\dec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p\Desktop\ss-test\showshak-v2\pitch\assets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470" y="132588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pPr algn="ctr" indent="0" marL="0">
              <a:buNone/>
            </a:pPr>
            <a:r>
              <a:rPr lang="en-US" sz="5400" b="1" spc="200" kern="0" dirty="0">
                <a:solidFill>
                  <a:srgbClr val="EA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2441448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trusted bridge to everything you watch.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[live app link]</a:t>
            </a:r>
            <a:pPr algn="ctr" indent="0" marL="0">
              <a:buNone/>
            </a:pPr>
            <a:r>
              <a:rPr lang="en-US" sz="1200" spc="100" kern="0" dirty="0">
                <a:solidFill>
                  <a:srgbClr val="5A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hello@showshak.com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ShowShak — Investor Deck v2</dc:title>
  <dc:subject>PptxGenJS Presentation</dc:subject>
  <dc:creator>ShowShak</dc:creator>
  <cp:lastModifiedBy>ShowShak</cp:lastModifiedBy>
  <cp:revision>1</cp:revision>
  <dcterms:created xsi:type="dcterms:W3CDTF">2026-07-05T06:32:35Z</dcterms:created>
  <dcterms:modified xsi:type="dcterms:W3CDTF">2026-07-05T06:32:35Z</dcterms:modified>
</cp:coreProperties>
</file>