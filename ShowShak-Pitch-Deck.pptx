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p\Desktop\ss-test\showshak-v2\pitch\assets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50" y="868680"/>
            <a:ext cx="1097280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24028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pPr algn="ctr" indent="0" marL="0">
              <a:buNone/>
            </a:pPr>
            <a:r>
              <a:rPr lang="en-US" sz="6000" b="1" spc="2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SHAK</a:t>
            </a:r>
            <a:endParaRPr lang="en-US" sz="6000" dirty="0"/>
          </a:p>
        </p:txBody>
      </p:sp>
      <p:sp>
        <p:nvSpPr>
          <p:cNvPr id="5" name="Text 1"/>
          <p:cNvSpPr/>
          <p:nvPr/>
        </p:nvSpPr>
        <p:spPr>
          <a:xfrm>
            <a:off x="0" y="3520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 ·  </a:t>
            </a:r>
            <a:pPr algn="ctr" indent="0" marL="0">
              <a:buNone/>
            </a:pPr>
            <a:r>
              <a:rPr lang="en-US" sz="1500" b="1" spc="4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pPr algn="ctr" indent="0" marL="0">
              <a:buNone/>
            </a:pPr>
            <a:r>
              <a:rPr lang="en-US" sz="1500" b="1" spc="400" kern="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WATCH IT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2441448" y="4114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layer for what to watch — curators clip what’s worth your time, you tap Watch It, you land on the right platform.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 ·  INDIA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 content.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conviction.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22960" y="27432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min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822960" y="35204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Indian viewer burns browsing, not watching — every single session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434840" y="27432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434840" y="35204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Indian OTT subscribers are frustrated just trying to find something to watch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46720" y="27432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148M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8046720" y="35204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subscriptions split across 15+ platforms &amp; 13+ languages — the fragmentation behind the paralysis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480060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 guess. Search needs a title you don’t have. So the decision falls back to the oldest instinct there is — asking someone whose taste you trust.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635508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LiveMint 2025 (India’s 16-minute discovery problem); Accenture OTT survey (India); FICCI-EY &amp; Ormax 2026.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person you trust,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scale of a feed.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22960" y="274320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curator clips a show. You feel it. You trust them. You tap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land on the right platform in one move.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3904488"/>
            <a:ext cx="109728" cy="109728"/>
          </a:xfrm>
          <a:prstGeom prst="ellipse">
            <a:avLst/>
          </a:prstGeom>
          <a:solidFill>
            <a:srgbClr val="EA3B32"/>
          </a:solidFill>
          <a:ln/>
        </p:spPr>
      </p:sp>
      <p:sp>
        <p:nvSpPr>
          <p:cNvPr id="7" name="Text 4"/>
          <p:cNvSpPr/>
          <p:nvPr/>
        </p:nvSpPr>
        <p:spPr>
          <a:xfrm>
            <a:off x="1115568" y="37947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first.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connect with a curator’s taste before the title — so trust leads the decision.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617720"/>
            <a:ext cx="109728" cy="109728"/>
          </a:xfrm>
          <a:prstGeom prst="ellipse">
            <a:avLst/>
          </a:prstGeom>
          <a:solidFill>
            <a:srgbClr val="EA3B32"/>
          </a:solidFill>
          <a:ln/>
        </p:spPr>
      </p:sp>
      <p:sp>
        <p:nvSpPr>
          <p:cNvPr id="9" name="Text 6"/>
          <p:cNvSpPr/>
          <p:nvPr/>
        </p:nvSpPr>
        <p:spPr>
          <a:xfrm>
            <a:off x="1115568" y="4507992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action.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clip builds to a single tap, at the emotional peak.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330952"/>
            <a:ext cx="109728" cy="109728"/>
          </a:xfrm>
          <a:prstGeom prst="ellipse">
            <a:avLst/>
          </a:prstGeom>
          <a:solidFill>
            <a:srgbClr val="EA3B32"/>
          </a:solidFill>
          <a:ln/>
        </p:spPr>
      </p:sp>
      <p:sp>
        <p:nvSpPr>
          <p:cNvPr id="11" name="Text 8"/>
          <p:cNvSpPr/>
          <p:nvPr/>
        </p:nvSpPr>
        <p:spPr>
          <a:xfrm>
            <a:off x="1115568" y="5221224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bridge.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carry people to Netflix, Prime, JioHotstar — the trusted top of the funnel for all of them.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is here.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2331720"/>
            <a:ext cx="3383280" cy="2697480"/>
          </a:xfrm>
          <a:prstGeom prst="roundRect">
            <a:avLst>
              <a:gd name="adj" fmla="val 3390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0704" y="253288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060704" y="328269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broke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60704" y="3703320"/>
            <a:ext cx="292608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148M paying streaming subscriptions in India, fragmented across 15+ platforms and 13+ languages. Deciding what to watch is genuinely overwhelming.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2331720"/>
            <a:ext cx="3383280" cy="2697480"/>
          </a:xfrm>
          <a:prstGeom prst="roundRect">
            <a:avLst>
              <a:gd name="adj" fmla="val 3390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72584" y="253288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672584" y="328269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moved to people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672584" y="3703320"/>
            <a:ext cx="292608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in creators hit 67% — and viewers 18–34 now rank creator recommendations their single most trusted source, surpassing search for the first time.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46720" y="2331720"/>
            <a:ext cx="3383280" cy="2697480"/>
          </a:xfrm>
          <a:prstGeom prst="roundRect">
            <a:avLst>
              <a:gd name="adj" fmla="val 3390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84464" y="253288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race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284464" y="328269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giant confirmed it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84464" y="3703320"/>
            <a:ext cx="292608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JioHotstar + OpenAI shipped ChatGPT discovery to fix “what to watch.” The #1 player is paying to solve our exact problem — with a machine guess, where we bring human trust.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22960" y="525780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drove nearly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the world’s subscription-app install growth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2026. The demand is here, now.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2960" y="635508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Ormax 2025; Nielsen 2026; Variety / Financial Express 2026; AppsFlyer State of Subscriptions 2026 (India subcontinent = 49% of global net paid-install growth).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budget behind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“Watch It.”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914400" y="274320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EA3B32">
              <a:alpha val="10000"/>
            </a:srgbClr>
          </a:solidFill>
          <a:ln w="9525">
            <a:solidFill>
              <a:srgbClr val="EA3B3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8529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promotion economy  ·  ~₹6,000–10,000 cr/yr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316382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marketing + subscriber acquisition + film P&amp;A + influencer (~$0.7–1.2B)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463040" y="36118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EA3B32">
              <a:alpha val="17000"/>
            </a:srgbClr>
          </a:solidFill>
          <a:ln w="9525">
            <a:solidFill>
              <a:srgbClr val="EA3B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3040" y="37216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 ·  ~₹2,000–4,000 cr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40325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trust-discovery slice we can serve (~$240–480M)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057400" y="4480560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EA3B32">
              <a:alpha val="26000"/>
            </a:srgbClr>
          </a:solidFill>
          <a:ln w="9525">
            <a:solidFill>
              <a:srgbClr val="EA3B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57400" y="45902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target  ·  ₹200–400 cr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783080" y="49011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 of the serviceable market at maturity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92240" y="28346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and platforms spend relentlessly to make people watch. One tentpole now spends $100M+ on marketing alone.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92240" y="41148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buckets, worldwide → ~$50B+/yr.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India is the beachhead; the playground is global.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" y="635508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Bottom-up, triangulated: FICCI-EY 2026, WPP Media 2026, Kofluence 2026, Netflix &amp; studio marketing disclosures. Ranges, not point estimates.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CATEGORY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network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what to watch.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2331720"/>
            <a:ext cx="6766560" cy="3383280"/>
          </a:xfrm>
          <a:prstGeom prst="roundRect">
            <a:avLst>
              <a:gd name="adj" fmla="val 2703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42239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neutrality →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 rot="16200000">
            <a:off x="-1188720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taste &amp; trust →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22830" y="4843577"/>
            <a:ext cx="118872" cy="118872"/>
          </a:xfrm>
          <a:prstGeom prst="ellipse">
            <a:avLst/>
          </a:prstGeom>
          <a:solidFill>
            <a:srgbClr val="5A5A72"/>
          </a:solidFill>
          <a:ln/>
        </p:spPr>
      </p:sp>
      <p:sp>
        <p:nvSpPr>
          <p:cNvPr id="9" name="Text 6"/>
          <p:cNvSpPr/>
          <p:nvPr/>
        </p:nvSpPr>
        <p:spPr>
          <a:xfrm>
            <a:off x="1713586" y="5031029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· Prime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(walled gardens)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35447" y="4708246"/>
            <a:ext cx="118872" cy="118872"/>
          </a:xfrm>
          <a:prstGeom prst="ellipse">
            <a:avLst/>
          </a:prstGeom>
          <a:solidFill>
            <a:srgbClr val="5A5A72"/>
          </a:solidFill>
          <a:ln/>
        </p:spPr>
      </p:sp>
      <p:sp>
        <p:nvSpPr>
          <p:cNvPr id="11" name="Text 8"/>
          <p:cNvSpPr/>
          <p:nvPr/>
        </p:nvSpPr>
        <p:spPr>
          <a:xfrm>
            <a:off x="4826203" y="489569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JustWatch · Reelgood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(where-to-watch data)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064154" y="4031590"/>
            <a:ext cx="118872" cy="118872"/>
          </a:xfrm>
          <a:prstGeom prst="ellipse">
            <a:avLst/>
          </a:prstGeom>
          <a:solidFill>
            <a:srgbClr val="5A5A72"/>
          </a:solidFill>
          <a:ln/>
        </p:spPr>
      </p:sp>
      <p:sp>
        <p:nvSpPr>
          <p:cNvPr id="13" name="Text 10"/>
          <p:cNvSpPr/>
          <p:nvPr/>
        </p:nvSpPr>
        <p:spPr>
          <a:xfrm>
            <a:off x="2254910" y="421904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OTTplay · aggregators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(bundles + search)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40810" y="3388766"/>
            <a:ext cx="118872" cy="118872"/>
          </a:xfrm>
          <a:prstGeom prst="ellipse">
            <a:avLst/>
          </a:prstGeom>
          <a:solidFill>
            <a:srgbClr val="5A5A72"/>
          </a:solidFill>
          <a:ln/>
        </p:spPr>
      </p:sp>
      <p:sp>
        <p:nvSpPr>
          <p:cNvPr id="15" name="Text 12"/>
          <p:cNvSpPr/>
          <p:nvPr/>
        </p:nvSpPr>
        <p:spPr>
          <a:xfrm>
            <a:off x="2931566" y="357621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· Reels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(taste, no intent)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35624" y="2873959"/>
            <a:ext cx="201168" cy="201168"/>
          </a:xfrm>
          <a:prstGeom prst="ellipse">
            <a:avLst/>
          </a:prstGeom>
          <a:solidFill>
            <a:srgbClr val="EA3B32"/>
          </a:solidFill>
          <a:ln/>
        </p:spPr>
      </p:sp>
      <p:sp>
        <p:nvSpPr>
          <p:cNvPr id="17" name="Text 14"/>
          <p:cNvSpPr/>
          <p:nvPr/>
        </p:nvSpPr>
        <p:spPr>
          <a:xfrm>
            <a:off x="5367528" y="3102559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ShowShak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863840" y="246888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JustWatch turned where-to-watch data into a profitable, studio-funded business. Letterboxd turned film taste into a 29M-strong culture. We sit where they meet — taste plus action, across every platform.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2960" y="635508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JustWatch: 60M+ users/mo, profitable since 2016. Letterboxd: ~29M users, 2026 (TIME / Tiny).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LIVE TODAY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Familiar to use.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to fake.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2468880"/>
            <a:ext cx="2496312" cy="2148840"/>
          </a:xfrm>
          <a:prstGeom prst="roundRect">
            <a:avLst>
              <a:gd name="adj" fmla="val 4255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0704" y="2670048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Fire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60704" y="3090672"/>
            <a:ext cx="203911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like, reimagined — “this is lit.” A reflex, never a public scoreboard.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502152" y="2468880"/>
            <a:ext cx="2496312" cy="2148840"/>
          </a:xfrm>
          <a:prstGeom prst="roundRect">
            <a:avLst>
              <a:gd name="adj" fmla="val 4255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39896" y="2670048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739896" y="3090672"/>
            <a:ext cx="203911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curator’s pitch leads; the title reveals only at the moment of decision.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81344" y="2468880"/>
            <a:ext cx="2496312" cy="2148840"/>
          </a:xfrm>
          <a:prstGeom prst="roundRect">
            <a:avLst>
              <a:gd name="adj" fmla="val 4255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19088" y="2670048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19088" y="3090672"/>
            <a:ext cx="203911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to the right platform, in your region. Private. Instant.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860536" y="2468880"/>
            <a:ext cx="2496312" cy="2148840"/>
          </a:xfrm>
          <a:prstGeom prst="roundRect">
            <a:avLst>
              <a:gd name="adj" fmla="val 4255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98280" y="2670048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&amp; Stacks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098280" y="3090672"/>
            <a:ext cx="203911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roster of curators you trust, and collect what’s next.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22960" y="502920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and live as an installable app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real curators, real clips, real Watch-It taps, rigorously tested. The engineering risk is already behind us.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sell intent —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moment of taste.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2423160"/>
            <a:ext cx="10543032" cy="713232"/>
          </a:xfrm>
          <a:prstGeom prst="roundRect">
            <a:avLst>
              <a:gd name="adj" fmla="val 10256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25146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00200" y="25146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Promoted clips · native title marketing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280720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fund curators to clip new titles. Looks organic, demand-independent, recurring with every release.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811512" y="26426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22960" y="3264408"/>
            <a:ext cx="10543032" cy="713232"/>
          </a:xfrm>
          <a:prstGeom prst="roundRect">
            <a:avLst>
              <a:gd name="adj" fmla="val 10256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335584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600200" y="335584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acquisition for streamers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00200" y="364845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Pre-sold subscribers at peak desire — delivered warmer and cheaper than a streamer’s own cold ads.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811512" y="34838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22960" y="4105656"/>
            <a:ext cx="10543032" cy="713232"/>
          </a:xfrm>
          <a:prstGeom prst="roundRect">
            <a:avLst>
              <a:gd name="adj" fmla="val 10256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419709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1600200" y="419709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taste intelligence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600200" y="448970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platform’s mirror of the open market. High-margin, compounding, and ours alone to hold.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811512" y="43251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22960" y="4946904"/>
            <a:ext cx="10543032" cy="713232"/>
          </a:xfrm>
          <a:prstGeom prst="roundRect">
            <a:avLst>
              <a:gd name="adj" fmla="val 10256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503834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1600200" y="503834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+ curator monetization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600200" y="533095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Power-user tools and creator revenue — diversified, recurring, first-party.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811512" y="5166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22960" y="635508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Subscriber-acquisition cost runs into the tens of dollars (Netflix ~$89, US benchmark — Spyro-Soft 2026); India’s is lower, but the cheaper-channel logic holds. Healthy LTV:CAC ≥ 3:1.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DEFENSIBILITY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compound.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233172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0704" y="25328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Neutrality is the moat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60704" y="2953512"/>
            <a:ext cx="4709160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layer above every platform can hold cross-platform taste. A streamer that promotes rivals stops being itself — so this stays ours.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233172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9944" y="25328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taste graph deepens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9944" y="2953512"/>
            <a:ext cx="4709160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fire, follow and Watch-It widens a dataset no single platform can see. Time makes the lead bigger.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429768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44988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is earned, not bought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60704" y="4919472"/>
            <a:ext cx="4709160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wedge is a behaviour — connect with the curator, then the title. That bond compounds with every honest recommendation.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72200" y="429768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9944" y="44988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with zero permission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09944" y="4919472"/>
            <a:ext cx="4709160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runs on public links and open availability data. We launch, grow, and prove conversion on our own.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the hardest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first.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2743200"/>
            <a:ext cx="118872" cy="118872"/>
          </a:xfrm>
          <a:prstGeom prst="ellipse">
            <a:avLst/>
          </a:prstGeom>
          <a:solidFill>
            <a:srgbClr val="EA3B32"/>
          </a:solidFill>
          <a:ln/>
        </p:spPr>
      </p:sp>
      <p:sp>
        <p:nvSpPr>
          <p:cNvPr id="6" name="Text 3"/>
          <p:cNvSpPr/>
          <p:nvPr/>
        </p:nvSpPr>
        <p:spPr>
          <a:xfrm>
            <a:off x="1133856" y="2651760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is the beachhead.</a:t>
            </a:r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most fragmented streaming market on earth — the sharpest pain, the hungriest curators, the fastest proof.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22960" y="3611880"/>
            <a:ext cx="118872" cy="118872"/>
          </a:xfrm>
          <a:prstGeom prst="ellipse">
            <a:avLst/>
          </a:prstGeom>
          <a:solidFill>
            <a:srgbClr val="EA3B32"/>
          </a:solidFill>
          <a:ln/>
        </p:spPr>
      </p:sp>
      <p:sp>
        <p:nvSpPr>
          <p:cNvPr id="8" name="Text 5"/>
          <p:cNvSpPr/>
          <p:nvPr/>
        </p:nvSpPr>
        <p:spPr>
          <a:xfrm>
            <a:off x="1133856" y="3520440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the loop.</a:t>
            </a:r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Hand-pick a founding cohort, then grow to 50–100 curators posting weekly — the clips that make viewers return for the people, not a feed.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22960" y="4480560"/>
            <a:ext cx="118872" cy="118872"/>
          </a:xfrm>
          <a:prstGeom prst="ellipse">
            <a:avLst/>
          </a:prstGeom>
          <a:solidFill>
            <a:srgbClr val="EA3B32"/>
          </a:solidFill>
          <a:ln/>
        </p:spPr>
      </p:sp>
      <p:sp>
        <p:nvSpPr>
          <p:cNvPr id="10" name="Text 7"/>
          <p:cNvSpPr/>
          <p:nvPr/>
        </p:nvSpPr>
        <p:spPr>
          <a:xfrm>
            <a:off x="1133856" y="4389120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organic rail becomes the paid rail.</a:t>
            </a:r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Curators clip what’s trending today; that same placement becomes paid promoted marketing as conversion is proven.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22960" y="5349240"/>
            <a:ext cx="118872" cy="118872"/>
          </a:xfrm>
          <a:prstGeom prst="ellipse">
            <a:avLst/>
          </a:prstGeom>
          <a:solidFill>
            <a:srgbClr val="EA3B32"/>
          </a:solidFill>
          <a:ln/>
        </p:spPr>
      </p:sp>
      <p:sp>
        <p:nvSpPr>
          <p:cNvPr id="12" name="Text 9"/>
          <p:cNvSpPr/>
          <p:nvPr/>
        </p:nvSpPr>
        <p:spPr>
          <a:xfrm>
            <a:off x="1133856" y="5257800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revenue: regional platforms + film launches.</a:t>
            </a:r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services and constant slate of releases that need discovery most — and spend on it daily.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the buyer.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2468880"/>
            <a:ext cx="5166360" cy="2194560"/>
          </a:xfrm>
          <a:prstGeom prst="roundRect">
            <a:avLst>
              <a:gd name="adj" fmla="val 4167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0704" y="26700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Piyush Gupta — Founder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60704" y="3090672"/>
            <a:ext cx="470916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(IT) and a performance marketer — managed ₹1 cr+ in Google Ads spend driving leads and sales for businesses, then built this entire live, rigorously tested product solo.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2468880"/>
            <a:ext cx="5166360" cy="2194560"/>
          </a:xfrm>
          <a:prstGeom prst="roundRect">
            <a:avLst>
              <a:gd name="adj" fmla="val 4167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9944" y="26700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9944" y="3090672"/>
            <a:ext cx="470916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Streaming-industry partnerships to turn Watch-It proof into platform revenue, and senior engineering for multi-region scale.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502920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ShowShak’s customer is a performance marketer buying attention.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I’ve been that buyer — I know exactly what converts and what they’ll pay for.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105156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</a:t>
            </a:r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 crore</a:t>
            </a:r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pre-seed</a:t>
            </a:r>
            <a:endParaRPr lang="en-US" sz="3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prove the loop.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2743200"/>
            <a:ext cx="105430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takes us to one clear milestone —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50–100 curators posting weekly and 2,000–3,000 viewers returning because they trust them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the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Watch-It conversion data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opens our first deal conversations with the OTT platforms.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429768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0704" y="44988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Curators &amp; content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60704" y="4919472"/>
            <a:ext cx="292608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and support the founding curator cohort — the supply that makes an audience return.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429768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72584" y="44988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entity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72584" y="4919472"/>
            <a:ext cx="292608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Counsel, operating entity, safe-harbour hardening — the clearance to go fully public.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46720" y="429768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84464" y="44988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84464" y="4919472"/>
            <a:ext cx="292608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+ senior engineering — turn the beta into a measurable, fundable loop.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p\Desktop\ss-test\showshak-v2\pitch\assets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470" y="1325880"/>
            <a:ext cx="1005840" cy="10058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pPr algn="ctr" indent="0" marL="0">
              <a:buNone/>
            </a:pPr>
            <a:r>
              <a:rPr lang="en-US" sz="5400" b="1" spc="2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SHAK</a:t>
            </a:r>
            <a:endParaRPr lang="en-US" sz="5400" dirty="0"/>
          </a:p>
        </p:txBody>
      </p:sp>
      <p:sp>
        <p:nvSpPr>
          <p:cNvPr id="5" name="Text 1"/>
          <p:cNvSpPr/>
          <p:nvPr/>
        </p:nvSpPr>
        <p:spPr>
          <a:xfrm>
            <a:off x="2441448" y="3931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trusted bridge to everything you watch.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hello@showshak.com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ShowShak — Investor Deck</dc:title>
  <dc:subject>PptxGenJS Presentation</dc:subject>
  <dc:creator>ShowShak</dc:creator>
  <cp:lastModifiedBy>ShowShak</cp:lastModifiedBy>
  <cp:revision>1</cp:revision>
  <dcterms:created xsi:type="dcterms:W3CDTF">2026-06-30T21:19:37Z</dcterms:created>
  <dcterms:modified xsi:type="dcterms:W3CDTF">2026-06-30T21:19:37Z</dcterms:modified>
</cp:coreProperties>
</file>